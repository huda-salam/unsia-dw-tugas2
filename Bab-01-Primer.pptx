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image" Target="../media/image-5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 · THE DATA WAREHOUSE TOOLKIT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21488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 DW/BI &amp;</a:t>
            </a:r>
            <a:endParaRPr lang="en-US" sz="3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Dimensional Modeling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3794760"/>
            <a:ext cx="18288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977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Fondasi: tujuan sistem, konsep inti, arsitektur, dan mitos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Moh. Dingin Huda Salam  ·  NIM 250101020073  ·  Tugas Data Warehouse · UNSIA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Tujuan Sistem DW/BI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keluhan klasik ("data banyak tapi sulit diakses") lahir tujuh tujuan wajib sistem DW/BI: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78992" y="2121408"/>
            <a:ext cx="640080" cy="64008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2563EB">
                <a:alpha val="35000"/>
              </a:srgbClr>
            </a:outerShdw>
          </a:effectLst>
        </p:spPr>
      </p:sp>
      <p:pic>
        <p:nvPicPr>
          <p:cNvPr id="7" name="Image 0" descr="/tmp/dwrepo_ppt/assets/icons/z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413" y="2287829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47088" y="202996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Mudah diakses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847088" y="2432304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dipahami pengguna bisnis — simple &amp; fast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89120" y="182880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45152" y="2121408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D9488">
                <a:alpha val="35000"/>
              </a:srgbClr>
            </a:outerShdw>
          </a:effectLst>
        </p:spPr>
      </p:sp>
      <p:pic>
        <p:nvPicPr>
          <p:cNvPr id="12" name="Image 1" descr="/tmp/dwrepo_ppt/assets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1573" y="2287829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13248" y="202996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Konsisten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413248" y="2432304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bersih, label &amp; definisi seragam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955280" y="182880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11312" y="2121408"/>
            <a:ext cx="640080" cy="64008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5400000">
              <a:srgbClr val="16A34A">
                <a:alpha val="35000"/>
              </a:srgbClr>
            </a:outerShdw>
          </a:effectLst>
        </p:spPr>
      </p:sp>
      <p:pic>
        <p:nvPicPr>
          <p:cNvPr id="17" name="Image 2" descr="/tmp/dwrepo_ppt/assets/icons/refre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7733" y="2287829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79408" y="202996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Adaptif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979408" y="2432304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tak merusak yang sudah ada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22960" y="324612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78992" y="3538728"/>
            <a:ext cx="640080" cy="64008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7C3AED">
                <a:alpha val="35000"/>
              </a:srgbClr>
            </a:outerShdw>
          </a:effectLst>
        </p:spPr>
      </p:sp>
      <p:pic>
        <p:nvPicPr>
          <p:cNvPr id="22" name="Image 3" descr="/tmp/dwrepo_ppt/assets/icons/c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5413" y="3705149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847088" y="344728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Tepat waktu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1847088" y="3849624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mentah cepat jadi informasi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89120" y="324612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45152" y="3538728"/>
            <a:ext cx="640080" cy="64008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2563EB">
                <a:alpha val="35000"/>
              </a:srgbClr>
            </a:outerShdw>
          </a:effectLst>
        </p:spPr>
      </p:sp>
      <p:pic>
        <p:nvPicPr>
          <p:cNvPr id="27" name="Image 4" descr="/tmp/dwrepo_ppt/assets/icons/databas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1573" y="3705149"/>
            <a:ext cx="307238" cy="30723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13248" y="344728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5413248" y="3849624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"permata mahkota" terkendali aksesnya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7955280" y="324612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211312" y="3538728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D9488">
                <a:alpha val="35000"/>
              </a:srgbClr>
            </a:outerShdw>
          </a:effectLst>
        </p:spPr>
      </p:sp>
      <p:pic>
        <p:nvPicPr>
          <p:cNvPr id="32" name="Image 5" descr="/tmp/dwrepo_ppt/assets/icons/targe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7733" y="3705149"/>
            <a:ext cx="307238" cy="30723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79408" y="344728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 tepercaya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979408" y="3849624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terpenting = keputusan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822960" y="48920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Diterima komunitas bisnis — jika bisnis tak memakainya, proyek gagal (tujuan ke-7 &amp; terpenting).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Konsep Inti: Star Schema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Pemodelan dimensional memenuhi dua kebutuhan sekaligus: mudah dipahami &amp; cepat di-query.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3657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240280"/>
            <a:ext cx="640080" cy="64008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2563EB">
                <a:alpha val="35000"/>
              </a:srgbClr>
            </a:outerShdw>
          </a:effectLst>
        </p:spPr>
      </p:sp>
      <p:pic>
        <p:nvPicPr>
          <p:cNvPr id="7" name="Image 0" descr="/tmp/dwrepo_ppt/assets/icons/tren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701" y="240670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286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 Table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51560" y="28803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Pengukuran numerik event bisnis. Satu baris = satu event; semua baris se-grain.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2960" y="3749040"/>
            <a:ext cx="3657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097280" y="4023360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D9488">
                <a:alpha val="35000"/>
              </a:srgbClr>
            </a:outerShdw>
          </a:effectLst>
        </p:spPr>
      </p:sp>
      <p:pic>
        <p:nvPicPr>
          <p:cNvPr id="12" name="Image 1" descr="/tmp/dwrepo_ppt/assets/icons/gri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701" y="418978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74520" y="4069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 Table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1051560" y="46634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Konteks: siapa, apa, kapan, di mana. Sumber filter, grouping &amp; label laporan.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412480" y="2231136"/>
            <a:ext cx="777240" cy="1746504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 flipH="1">
            <a:off x="10149840" y="2231136"/>
            <a:ext cx="-960120" cy="1746504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7" name="Shape 13"/>
          <p:cNvSpPr/>
          <p:nvPr/>
        </p:nvSpPr>
        <p:spPr>
          <a:xfrm>
            <a:off x="7040880" y="3648456"/>
            <a:ext cx="2148840" cy="329184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8" name="Shape 14"/>
          <p:cNvSpPr/>
          <p:nvPr/>
        </p:nvSpPr>
        <p:spPr>
          <a:xfrm flipH="1">
            <a:off x="11064240" y="3648456"/>
            <a:ext cx="-1874520" cy="329184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9" name="Shape 15"/>
          <p:cNvSpPr/>
          <p:nvPr/>
        </p:nvSpPr>
        <p:spPr>
          <a:xfrm flipH="1" flipV="1">
            <a:off x="9144000" y="5157216"/>
            <a:ext cx="45720" cy="-1179576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0" name="Shape 16"/>
          <p:cNvSpPr/>
          <p:nvPr/>
        </p:nvSpPr>
        <p:spPr>
          <a:xfrm>
            <a:off x="8138160" y="352044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01600" dist="25400" dir="5400000">
              <a:srgbClr val="2563EB">
                <a:alpha val="30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8138160" y="352044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7772400" y="201168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772400" y="2011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9509760" y="201168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9509760" y="2011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400800" y="342900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00800" y="3429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10424160" y="342900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0424160" y="3429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8503920" y="493776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503920" y="4937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Promosi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Arsitektur DW/BI Kimball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komponen — dengan metafora restoran: dapur (tertutup) menyajikan ke ruang makan.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9050">
            <a:solidFill>
              <a:srgbClr val="1E293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14500" y="2423160"/>
            <a:ext cx="731520" cy="731520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5400000">
              <a:srgbClr val="1E293B">
                <a:alpha val="35000"/>
              </a:srgbClr>
            </a:outerShdw>
          </a:effectLst>
        </p:spPr>
      </p:sp>
      <p:pic>
        <p:nvPicPr>
          <p:cNvPr id="7" name="Image 0" descr="/tmp/dwrepo_ppt/assets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695" y="261335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05840" y="374904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operasional (di luar DW)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19272" y="2148840"/>
            <a:ext cx="3657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657600" y="214884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49140" y="2423160"/>
            <a:ext cx="731520" cy="73152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2563EB">
                <a:alpha val="35000"/>
              </a:srgbClr>
            </a:outerShdw>
          </a:effectLst>
        </p:spPr>
      </p:sp>
      <p:pic>
        <p:nvPicPr>
          <p:cNvPr id="13" name="Image 1" descr="/tmp/dwrepo_ppt/assets/icons/settin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335" y="2613355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49040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System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840480" y="374904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· Transform · Load — "dapur"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153912" y="2148840"/>
            <a:ext cx="3657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6492240" y="214884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383780" y="2423160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D9488">
                <a:alpha val="35000"/>
              </a:srgbClr>
            </a:outerShdw>
          </a:effectLst>
        </p:spPr>
      </p:sp>
      <p:pic>
        <p:nvPicPr>
          <p:cNvPr id="19" name="Image 2" descr="/tmp/dwrepo_ppt/assets/icons/gri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3975" y="2613355"/>
            <a:ext cx="351130" cy="35113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83680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Area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675120" y="374904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Dimensional, atomik, per proses — "ruang makan"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988552" y="2148840"/>
            <a:ext cx="3657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9326880" y="214884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0218420" y="2423160"/>
            <a:ext cx="731520" cy="73152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5400000">
              <a:srgbClr val="16A34A">
                <a:alpha val="35000"/>
              </a:srgbClr>
            </a:outerShdw>
          </a:effectLst>
        </p:spPr>
      </p:sp>
      <p:pic>
        <p:nvPicPr>
          <p:cNvPr id="25" name="Image 3" descr="/tmp/dwrepo_ppt/assets/icons/trend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8615" y="2613355"/>
            <a:ext cx="351130" cy="35113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418320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Applications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9509760" y="374904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Query, laporan, analitik, data mining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Direkatkan enterprise bus architecture dengan conformed dimensions — kunci integrasi.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Arsitektur Alternatif &amp; Mitos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alternatif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1965960"/>
            <a:ext cx="4892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1031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Data Mart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4688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Terisolasi per departemen → stovepipe. Tidak dianjurkan.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3108960"/>
            <a:ext cx="4892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32461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 / Inmon (hub-spoke)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36118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 3NF wajib. Normalisasi ≠ integrasi.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4251960"/>
            <a:ext cx="4892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97280" y="43891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(CIF + Kimball)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47548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 3NF hanya sumber untuk presentasi Kimball.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6364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mitos (semua salah)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55080" y="1965960"/>
            <a:ext cx="457200" cy="45720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2563EB">
                <a:alpha val="35000"/>
              </a:srgbClr>
            </a:outerShdw>
          </a:effectLst>
        </p:spPr>
      </p:sp>
      <p:pic>
        <p:nvPicPr>
          <p:cNvPr id="16" name="Image 0" descr="/tmp/dwrepo_ppt/assets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2084832"/>
            <a:ext cx="219456" cy="219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949440" y="1920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untuk data ringkasan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355080" y="2624328"/>
            <a:ext cx="457200" cy="45720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D9488">
                <a:alpha val="35000"/>
              </a:srgbClr>
            </a:outerShdw>
          </a:effectLst>
        </p:spPr>
      </p:sp>
      <p:pic>
        <p:nvPicPr>
          <p:cNvPr id="19" name="Image 1" descr="/tmp/dwrepo_ppt/assets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743200"/>
            <a:ext cx="219456" cy="21945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949440" y="25786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Bersifat departemental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6355080" y="3282696"/>
            <a:ext cx="457200" cy="45720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5400000">
              <a:srgbClr val="16A34A">
                <a:alpha val="35000"/>
              </a:srgbClr>
            </a:outerShdw>
          </a:effectLst>
        </p:spPr>
      </p:sp>
      <p:pic>
        <p:nvPicPr>
          <p:cNvPr id="22" name="Image 2" descr="/tmp/dwrepo_ppt/assets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3401568"/>
            <a:ext cx="219456" cy="2194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949440" y="323697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skalabel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6355080" y="3941064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7C3AED">
                <a:alpha val="35000"/>
              </a:srgbClr>
            </a:outerShdw>
          </a:effectLst>
        </p:spPr>
      </p:sp>
      <p:pic>
        <p:nvPicPr>
          <p:cNvPr id="25" name="Image 3" descr="/tmp/dwrepo_ppt/assets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4059936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49440" y="389534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untuk pemakaian yang bisa diprediksi</a:t>
            </a:r>
            <a:endParaRPr lang="en-US" sz="1350" dirty="0"/>
          </a:p>
        </p:txBody>
      </p:sp>
      <p:sp>
        <p:nvSpPr>
          <p:cNvPr id="27" name="Shape 21"/>
          <p:cNvSpPr/>
          <p:nvPr/>
        </p:nvSpPr>
        <p:spPr>
          <a:xfrm>
            <a:off x="6355080" y="4599432"/>
            <a:ext cx="457200" cy="45720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2563EB">
                <a:alpha val="35000"/>
              </a:srgbClr>
            </a:outerShdw>
          </a:effectLst>
        </p:spPr>
      </p:sp>
      <p:pic>
        <p:nvPicPr>
          <p:cNvPr id="28" name="Image 4" descr="/tmp/dwrepo_ppt/assets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4718304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949440" y="455371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bisa diintegrasikan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7373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Intisari Bab 1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2606040"/>
            <a:ext cx="173736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926080"/>
            <a:ext cx="502920" cy="50292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2563EB">
                <a:alpha val="35000"/>
              </a:srgbClr>
            </a:outerShdw>
          </a:effectLst>
        </p:spPr>
      </p:sp>
      <p:pic>
        <p:nvPicPr>
          <p:cNvPr id="5" name="Image 0" descr="/tmp/dwrepo_ppt/assets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" y="305683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28803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DW/BI: mudah, konsisten, adaptif, tepat waktu, aman, tepercaya — &amp; diterima bisnis.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68680" y="3703320"/>
            <a:ext cx="502920" cy="5029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D9488">
                <a:alpha val="35000"/>
              </a:srgbClr>
            </a:outerShdw>
          </a:effectLst>
        </p:spPr>
      </p:sp>
      <p:pic>
        <p:nvPicPr>
          <p:cNvPr id="8" name="Image 1" descr="/tmp/dwrepo_ppt/assets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" y="3834079"/>
            <a:ext cx="241402" cy="2414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365760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inti: fact table (pengukuran) + dimension table (konteks) = star schema.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868680" y="4480560"/>
            <a:ext cx="502920" cy="50292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5400000">
              <a:srgbClr val="16A34A">
                <a:alpha val="35000"/>
              </a:srgbClr>
            </a:outerShdw>
          </a:effectLst>
        </p:spPr>
      </p:sp>
      <p:pic>
        <p:nvPicPr>
          <p:cNvPr id="11" name="Image 2" descr="/tmp/dwrepo_ppt/assets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439" y="4611319"/>
            <a:ext cx="241402" cy="24140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00200" y="44348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Kimball: Source → ETL → Presentation → BI, direkatkan conformed dimensions.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68680" y="5257800"/>
            <a:ext cx="502920" cy="50292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7C3AED">
                <a:alpha val="35000"/>
              </a:srgbClr>
            </a:outerShdw>
          </a:effectLst>
        </p:spPr>
      </p:sp>
      <p:pic>
        <p:nvPicPr>
          <p:cNvPr id="14" name="Image 3" descr="/tmp/dwrepo_ppt/assets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439" y="5388559"/>
            <a:ext cx="241402" cy="24140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00200" y="521208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Presentasi harus dimensional, atomik, per proses bisnis — bukan sekadar ringkasan.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2026-08-09T15:42:11Z</dcterms:created>
  <dcterms:modified xsi:type="dcterms:W3CDTF">2026-08-09T15:42:11Z</dcterms:modified>
</cp:coreProperties>
</file>